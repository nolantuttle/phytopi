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F385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F3850"/>
                </a:solidFill>
                <a:latin typeface="Arial"/>
              </a:rPr>
              <a:t>USD per Category  (placeholder — swap in real BOM totals)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Initial Estimate</c:v>
                </c:pt>
              </c:strCache>
            </c:strRef>
          </c:tx>
          <c:spPr>
            <a:solidFill>
              <a:srgbClr val="7A3F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1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Structure</c:v>
                  </c:pt>
                  <c:pt idx="1">
                    <c:v>Electronics</c:v>
                  </c:pt>
                  <c:pt idx="2">
                    <c:v>Sensors</c:v>
                  </c:pt>
                  <c:pt idx="3">
                    <c:v>Pi + Storage</c:v>
                  </c:pt>
                  <c:pt idx="4">
                    <c:v>Misc / Consumables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90</c:v>
                </c:pt>
                <c:pt idx="2">
                  <c:v>50</c:v>
                </c:pt>
                <c:pt idx="3">
                  <c:v>80</c:v>
                </c:pt>
                <c:pt idx="4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Spend</c:v>
                </c:pt>
              </c:strCache>
            </c:strRef>
          </c:tx>
          <c:spPr>
            <a:solidFill>
              <a:srgbClr val="5223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1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Structure</c:v>
                  </c:pt>
                  <c:pt idx="1">
                    <c:v>Electronics</c:v>
                  </c:pt>
                  <c:pt idx="2">
                    <c:v>Sensors</c:v>
                  </c:pt>
                  <c:pt idx="3">
                    <c:v>Pi + Storage</c:v>
                  </c:pt>
                  <c:pt idx="4">
                    <c:v>Misc / Consumables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105</c:v>
                </c:pt>
                <c:pt idx="2">
                  <c:v>55</c:v>
                </c:pt>
                <c:pt idx="3">
                  <c:v>85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1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38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38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F385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52239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468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E9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3767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E9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0" y="224028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PhytoPi</a:t>
            </a:r>
            <a:endParaRPr lang="en-US" sz="8400" dirty="0"/>
          </a:p>
        </p:txBody>
      </p:sp>
      <p:sp>
        <p:nvSpPr>
          <p:cNvPr id="7" name="Text 4"/>
          <p:cNvSpPr/>
          <p:nvPr/>
        </p:nvSpPr>
        <p:spPr>
          <a:xfrm>
            <a:off x="4572000" y="3429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9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IoT grow enclosure for autonomous plant care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0" y="4069080"/>
            <a:ext cx="3657600" cy="0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4297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Nolan Tuttle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0" y="45902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IoT firmware, mechanical design, 3D printing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0" y="4937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Grijalva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0" y="52303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database, Flutter UI, CI/CD &amp; deployment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0" y="6035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9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Canyon University   •   BS Engineering Capstone   • 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JUSTIFICATION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PhytoPi?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gardeners — especially beginners and people who travel — struggle with inconsistent watering, lighting, and environmental control. Existing smart grow products are either expensive black boxes or require constant manual tuning, and none expose their data to the user.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is an open, low-cost, 3D-printable smart grow enclosure. A Raspberry Pi 5 runs closed-loop watering and lighting from onboard sensors, while a Flutter app and local kiosk give the user real-time data, alerts, and remote control. Scalable by design — add another enclosure, add another plant.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1691640"/>
            <a:ext cx="4937760" cy="137160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691640"/>
            <a:ext cx="73152" cy="1371600"/>
          </a:xfrm>
          <a:prstGeom prst="rect">
            <a:avLst/>
          </a:prstGeom>
          <a:solidFill>
            <a:srgbClr val="52239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96596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0" y="1892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Open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98080" y="2240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Sub-$300 BOM, 3D-printable structure, commodity sensors.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75120" y="3291840"/>
            <a:ext cx="4937760" cy="137160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5120" y="3291840"/>
            <a:ext cx="73152" cy="1371600"/>
          </a:xfrm>
          <a:prstGeom prst="rect">
            <a:avLst/>
          </a:prstGeom>
          <a:solidFill>
            <a:srgbClr val="52239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56616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0" y="3493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498080" y="3840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Threshold-driven watering and lighting with fail-safe logic.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675120" y="4892040"/>
            <a:ext cx="4937760" cy="137160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20" name="Shape 16"/>
          <p:cNvSpPr/>
          <p:nvPr/>
        </p:nvSpPr>
        <p:spPr>
          <a:xfrm>
            <a:off x="6675120" y="4892040"/>
            <a:ext cx="73152" cy="1371600"/>
          </a:xfrm>
          <a:prstGeom prst="rect">
            <a:avLst/>
          </a:prstGeom>
          <a:solidFill>
            <a:srgbClr val="52239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16636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8080" y="5093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Data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498080" y="54406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via Flutter app and local kiosk display.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→ STANDARDS → SPECS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347472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Feedback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shall trigger automatic watering when soil moisture falls below threshold.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 beginners' desire for automation and stress-free plant care while away.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7009-2024  Fail-safe design for autonomous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shall display real-time sensor data on dashboard and mobile app.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technical users' need for live data and situational awareness.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2413-2019  IoT architectural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shall generate graphical growth trends using stored plant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experienced users tracking progress over time.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1012-2016  Verification &amp;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shall push notifications when sensor thresholds are exceeded.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Customizable alerts for users with varying experience levels.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7009-2024  Fail-safe design for autonomous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577840"/>
            <a:ext cx="73152" cy="73152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623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 </a:t>
            </a:r>
            <a:pPr indent="0" marL="0">
              <a:buNone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measurable design specs: </a:t>
            </a:r>
            <a:pPr indent="0" marL="0">
              <a:buNone/>
            </a:pPr>
            <a:r>
              <a:rPr lang="en-US" sz="11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NFR-008 </a:t>
            </a:r>
            <a:pPr indent="0" marL="0">
              <a:buNone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(validation &lt;100ms), </a:t>
            </a:r>
            <a:pPr indent="0" marL="0">
              <a:buNone/>
            </a:pPr>
            <a:r>
              <a:rPr lang="en-US" sz="11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NFR-023 </a:t>
            </a:r>
            <a:pPr indent="0" marL="0">
              <a:buNone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(pump response &lt;15s), </a:t>
            </a:r>
            <a:pPr indent="0" marL="0">
              <a:buNone/>
            </a:pPr>
            <a:r>
              <a:rPr lang="en-US" sz="11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NFR-031 </a:t>
            </a:r>
            <a:pPr indent="0" marL="0">
              <a:buNone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(&gt;99% reading uptime), </a:t>
            </a:r>
            <a:pPr indent="0" marL="0">
              <a:buNone/>
            </a:pPr>
            <a:r>
              <a:rPr lang="en-US" sz="11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NFR-006 </a:t>
            </a:r>
            <a:pPr indent="0" marL="0">
              <a:buNone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 &lt;5s refresh).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MODELS &amp; DRAWINGS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Design — Mechanical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617720"/>
          </a:xfrm>
          <a:prstGeom prst="rect">
            <a:avLst/>
          </a:prstGeom>
          <a:solidFill>
            <a:srgbClr val="E9DFF5"/>
          </a:solidFill>
          <a:ln w="9525">
            <a:solidFill>
              <a:srgbClr val="D9D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CAD RENDER OF FULL ENCLOSURE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assembly isometric — replace with SolidWorks render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8562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structure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0" y="2075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enclosure printed on standard bed size except acrylic columns.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249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2651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scalable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58000" y="29443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clip together — add enclosures laterally to expand capacity.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593592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0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routing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858000" y="38130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corner columns channel wiring from base to canopy with a ventilation access port.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46227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4389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mounts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858000" y="46817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mounts for Pi 5, power supply, pump, and sensor harness.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330952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58000" y="5257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access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858000" y="55504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Velcro-sealed front panel, Mylar-lined interior, kiosk display bezel.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SCHEMATICS &amp;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Design — Electrical &amp; Software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2194560"/>
          </a:xfrm>
          <a:prstGeom prst="rect">
            <a:avLst/>
          </a:prstGeom>
          <a:solidFill>
            <a:srgbClr val="E9DFF5"/>
          </a:solidFill>
          <a:ln w="9525">
            <a:solidFill>
              <a:srgbClr val="D9D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KiCad SCHEMATIC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 • BME680 • MOSFET-switched pump &amp; LEDs • 24V rail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86400" cy="2240280"/>
          </a:xfrm>
          <a:prstGeom prst="rect">
            <a:avLst/>
          </a:prstGeom>
          <a:solidFill>
            <a:srgbClr val="E9DFF5"/>
          </a:solidFill>
          <a:ln w="9525">
            <a:solidFill>
              <a:srgbClr val="D9D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ARCHITECTURE DIAGRAM 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agent → Supabase → Flutter UI   (pull from design review)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82880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0372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0" y="2221992"/>
            <a:ext cx="5257800" cy="0"/>
          </a:xfrm>
          <a:prstGeom prst="line">
            <a:avLst/>
          </a:prstGeom>
          <a:noFill/>
          <a:ln w="12700">
            <a:solidFill>
              <a:srgbClr val="7A3F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286000"/>
            <a:ext cx="5257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— main controller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BME680 — temp / humidity / gas (I²C)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soil moisture + water level sensors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MOSFET-switched 12V peristaltic pump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PWM-controlled full-spectrum LED strip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24V → 5V / 12V buck converters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1148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0372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0" y="4507992"/>
            <a:ext cx="5257800" cy="0"/>
          </a:xfrm>
          <a:prstGeom prst="line">
            <a:avLst/>
          </a:prstGeom>
          <a:noFill/>
          <a:ln w="12700">
            <a:solidFill>
              <a:srgbClr val="7A3FB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0" y="4572000"/>
            <a:ext cx="5257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sensor agent → SQLite local queue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batch ingestion to Supabase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UI (mobile + kiosk) on one codebase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GitHub Actions deployment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→ CRITERIA →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Testing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840480"/>
                <a:gridCol w="2194560"/>
                <a:gridCol w="22860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/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Dry-soil trigger: lower probe into dry media, monitor pump GPIO.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 activates when moisture &lt; 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in measured value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4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latency: log time from threshold cross to pump 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seconds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in avg of N trials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4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live update: compare sensor read time vs UI render time.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visible in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in observation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4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refresh delay: synchronized-clock comparison, 20 samples.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s from sensor to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in mean / max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4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uptime: 24-hr continuous run, count successful reads / total.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in %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4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push: force threshold breach, check device notification.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delivered &lt; 30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in latency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4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time: log time between raw read and SQLite insert.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ms per 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fill in avg ms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4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above are structured to each FR/NFR from the design review. Swap 'PASS' → fail pill for any test that doesn't meet criteria; remediation is covered on the next slide.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FAILED, WHAT WE FIXED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Remediations &amp; Final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 &amp; remediations applied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669280" cy="96012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73152" cy="960120"/>
          </a:xfrm>
          <a:prstGeom prst="rect">
            <a:avLst/>
          </a:prstGeom>
          <a:solidFill>
            <a:srgbClr val="52239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Example — replace with real issue ] Pump response exceeded 15 s on first trial.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moisture polling to a dedicated thread; response now [ X ] 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669280" cy="96012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154680"/>
            <a:ext cx="73152" cy="960120"/>
          </a:xfrm>
          <a:prstGeom prst="rect">
            <a:avLst/>
          </a:prstGeom>
          <a:solidFill>
            <a:srgbClr val="52239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461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Example ] Supabase ingestion dropped readings under flaky Wi-Fi.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SQLite queue with retry/back-off; sustained 100% delivery across reconnects.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669280" cy="96012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06240"/>
            <a:ext cx="73152" cy="960120"/>
          </a:xfrm>
          <a:prstGeom prst="rect">
            <a:avLst/>
          </a:prstGeom>
          <a:solidFill>
            <a:srgbClr val="52239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Example ] Kiosk UI refresh felt sluggish (~8 s perceived).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poll interval and cached latest reading in Flutter state; now &lt;3 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5669280" cy="96012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257800"/>
            <a:ext cx="73152" cy="960120"/>
          </a:xfrm>
          <a:prstGeom prst="rect">
            <a:avLst/>
          </a:prstGeom>
          <a:solidFill>
            <a:srgbClr val="52239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349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your real ones here — keep the same Issue / Fix pattern ]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Describe what you changed and the retest result 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210312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A3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VERIFIED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514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X / 7 ]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5800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+ non-functional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347472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A3F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PASS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X % ]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580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remediation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484632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A3F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TESTS COMPLETE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5257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85800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sensor, pump, power, thermal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VIDEO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Functionality Demonstration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00" cy="4617720"/>
          </a:xfrm>
          <a:prstGeom prst="rect">
            <a:avLst/>
          </a:prstGeom>
          <a:solidFill>
            <a:srgbClr val="1A11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6576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EMBED DEMO VIDEO HERE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937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B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calibration run + live UI update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shows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138160" y="2148840"/>
            <a:ext cx="411480" cy="411480"/>
          </a:xfrm>
          <a:prstGeom prst="ellipse">
            <a:avLst/>
          </a:prstGeom>
          <a:solidFill>
            <a:srgbClr val="522398"/>
          </a:solidFill>
          <a:ln/>
        </p:spPr>
      </p:sp>
      <p:sp>
        <p:nvSpPr>
          <p:cNvPr id="11" name="Text 8"/>
          <p:cNvSpPr/>
          <p:nvPr/>
        </p:nvSpPr>
        <p:spPr>
          <a:xfrm>
            <a:off x="813816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0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0" y="24048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BME680 + soil probe feed live telemetry to the Pi agent.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38160" y="3154680"/>
            <a:ext cx="411480" cy="411480"/>
          </a:xfrm>
          <a:prstGeom prst="ellipse">
            <a:avLst/>
          </a:prstGeom>
          <a:solidFill>
            <a:srgbClr val="522398"/>
          </a:solidFill>
          <a:ln/>
        </p:spPr>
      </p:sp>
      <p:sp>
        <p:nvSpPr>
          <p:cNvPr id="15" name="Text 12"/>
          <p:cNvSpPr/>
          <p:nvPr/>
        </p:nvSpPr>
        <p:spPr>
          <a:xfrm>
            <a:off x="81381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breach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0" y="34107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Artificially drop moisture reading below 30% setpoint.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4160520"/>
            <a:ext cx="411480" cy="411480"/>
          </a:xfrm>
          <a:prstGeom prst="ellipse">
            <a:avLst/>
          </a:prstGeom>
          <a:solidFill>
            <a:srgbClr val="522398"/>
          </a:solidFill>
          <a:ln/>
        </p:spPr>
      </p:sp>
      <p:sp>
        <p:nvSpPr>
          <p:cNvPr id="19" name="Text 16"/>
          <p:cNvSpPr/>
          <p:nvPr/>
        </p:nvSpPr>
        <p:spPr>
          <a:xfrm>
            <a:off x="81381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86800" y="4133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trigger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686800" y="44165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logic fires the MOSFET; pump doses a calibrated shot.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138160" y="5166360"/>
            <a:ext cx="411480" cy="411480"/>
          </a:xfrm>
          <a:prstGeom prst="ellipse">
            <a:avLst/>
          </a:prstGeom>
          <a:solidFill>
            <a:srgbClr val="522398"/>
          </a:solidFill>
          <a:ln/>
        </p:spPr>
      </p:sp>
      <p:sp>
        <p:nvSpPr>
          <p:cNvPr id="23" name="Text 20"/>
          <p:cNvSpPr/>
          <p:nvPr/>
        </p:nvSpPr>
        <p:spPr>
          <a:xfrm>
            <a:off x="813816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686800" y="5138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86800" y="54223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and kiosk reflect the event in under 5 seconds.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PROJECT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Summary &amp; Mitigations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88720"/>
                <a:gridCol w="1188720"/>
                <a:gridCol w="5577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Implemented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leakage damaging electronics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 isolated in upper compartment; pump + reservoir in sealed lower bay; leak channel drains to tray.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failure causing over/under-watering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Fail-safe: out-of-range readings suppress pump actuation and fire alert (IEEE 7009-2024).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outage blocks cloud 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Offline-first: SQLite queue buffers readings and flushes on reconnect; no data loss observed.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buildup inside enclosure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Intake/exhaust fan array + ventilation port in corner columns; monitored by BME680.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/ schedule overrun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3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MVP-first scope; deferred 'nice-to-have' sensors; GitHub issues + milestone gating.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VS. ACTUAL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&amp; Deviations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858000" cy="4617720"/>
          </a:xfrm>
          <a:prstGeom prst="rect">
            <a:avLst/>
          </a:prstGeom>
          <a:solidFill>
            <a:srgbClr val="E9DFF5"/>
          </a:solidFill>
          <a:ln w="9525">
            <a:solidFill>
              <a:srgbClr val="D9D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GITHUB PROJECT / GANTT SCREENSHOT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timeline visual from design review — keeps continuity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deviations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0" y="2148840"/>
            <a:ext cx="54864" cy="868680"/>
          </a:xfrm>
          <a:prstGeom prst="rect">
            <a:avLst/>
          </a:prstGeom>
          <a:solidFill>
            <a:srgbClr val="522398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2121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scope narrowed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63840" y="24048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I²C multiplexer + extra sensors; kept BME680 + soil + water level. Saved ~2 weeks.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0" y="3154680"/>
            <a:ext cx="54864" cy="868680"/>
          </a:xfrm>
          <a:prstGeom prst="rect">
            <a:avLst/>
          </a:prstGeom>
          <a:solidFill>
            <a:srgbClr val="522398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+ rigid hybrid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63840" y="34107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fully-rigid panels with fabric walls over 3D-printed frame. Lower mass, faster prints.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80960" y="4160520"/>
            <a:ext cx="54864" cy="868680"/>
          </a:xfrm>
          <a:prstGeom prst="rect">
            <a:avLst/>
          </a:prstGeom>
          <a:solidFill>
            <a:srgbClr val="522398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4133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moved cloud-side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63840" y="44165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health inference migrated from Pi to PC-hosted service — Pi CPU freed for real-time control.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80960" y="5166360"/>
            <a:ext cx="54864" cy="868680"/>
          </a:xfrm>
          <a:prstGeom prst="rect">
            <a:avLst/>
          </a:prstGeom>
          <a:solidFill>
            <a:srgbClr val="522398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schedule slips ]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63840" y="54223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anything that ran long and how you recovered.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COST BREAKDOWN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— Estimate vs. Actual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67512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783080"/>
            <a:ext cx="402336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7A3F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89520" y="1783080"/>
            <a:ext cx="73152" cy="1005840"/>
          </a:xfrm>
          <a:prstGeom prst="rect">
            <a:avLst/>
          </a:prstGeom>
          <a:solidFill>
            <a:srgbClr val="7A3FB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ESTIMATE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21305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$310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7589520" y="2880360"/>
            <a:ext cx="402336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52239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0" y="2880360"/>
            <a:ext cx="73152" cy="1005840"/>
          </a:xfrm>
          <a:prstGeom prst="rect">
            <a:avLst/>
          </a:prstGeom>
          <a:solidFill>
            <a:srgbClr val="522398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SPEND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0" y="32278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$365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7589520" y="3977640"/>
            <a:ext cx="402336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F5B7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89520" y="3977640"/>
            <a:ext cx="73152" cy="100584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0" y="4087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43251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+$55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7589520" y="5212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driven primarily by [ fill in — e.g. filament overages, shipping, replacement sensor after early prototype ].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PHYTOPI GOES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for Future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28016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1280160"/>
          </a:xfrm>
          <a:prstGeom prst="rect">
            <a:avLst/>
          </a:prstGeom>
          <a:solidFill>
            <a:srgbClr val="52239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928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Plant-specific profiles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2585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preset thresholds for common species (basil, tomato, herbs) so beginners never touch a setting.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440680" cy="128016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11" name="Shape 8"/>
          <p:cNvSpPr/>
          <p:nvPr/>
        </p:nvSpPr>
        <p:spPr>
          <a:xfrm>
            <a:off x="6172200" y="1691640"/>
            <a:ext cx="73152" cy="1280160"/>
          </a:xfrm>
          <a:prstGeom prst="rect">
            <a:avLst/>
          </a:prstGeom>
          <a:solidFill>
            <a:srgbClr val="52239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65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8928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Multi-enclosure mesh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086600" y="22585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Pi units on local network for shared storage, one-app-many-plants, and redundant watering.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154680"/>
            <a:ext cx="5440680" cy="128016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3154680"/>
            <a:ext cx="73152" cy="1280160"/>
          </a:xfrm>
          <a:prstGeom prst="rect">
            <a:avLst/>
          </a:prstGeom>
          <a:solidFill>
            <a:srgbClr val="52239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3558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 inference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63040" y="37216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the leaf-area / disease model to a Pi AI Kit so detection runs offline without the PC bridge.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72200" y="3154680"/>
            <a:ext cx="5440680" cy="128016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21" name="Shape 16"/>
          <p:cNvSpPr/>
          <p:nvPr/>
        </p:nvSpPr>
        <p:spPr>
          <a:xfrm>
            <a:off x="6172200" y="3154680"/>
            <a:ext cx="73152" cy="1280160"/>
          </a:xfrm>
          <a:prstGeom prst="rect">
            <a:avLst/>
          </a:prstGeom>
          <a:solidFill>
            <a:srgbClr val="52239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4290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33558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dosing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86600" y="37216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peristaltic pump + conductivity probe for hydroponic use cases.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617720"/>
            <a:ext cx="5440680" cy="128016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26" name="Shape 20"/>
          <p:cNvSpPr/>
          <p:nvPr/>
        </p:nvSpPr>
        <p:spPr>
          <a:xfrm>
            <a:off x="548640" y="4617720"/>
            <a:ext cx="73152" cy="1280160"/>
          </a:xfrm>
          <a:prstGeom prst="rect">
            <a:avLst/>
          </a:prstGeom>
          <a:solidFill>
            <a:srgbClr val="52239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89204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48188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polish &amp; accounts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463040" y="518464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auth, sharing, and historical reports — the platform is ready, the UI needs another pass.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72200" y="4617720"/>
            <a:ext cx="5440680" cy="1280160"/>
          </a:xfrm>
          <a:prstGeom prst="rect">
            <a:avLst/>
          </a:prstGeom>
          <a:solidFill>
            <a:srgbClr val="E9DFF5"/>
          </a:solidFill>
          <a:ln/>
        </p:spPr>
      </p:sp>
      <p:sp>
        <p:nvSpPr>
          <p:cNvPr id="31" name="Shape 24"/>
          <p:cNvSpPr/>
          <p:nvPr/>
        </p:nvSpPr>
        <p:spPr>
          <a:xfrm>
            <a:off x="6172200" y="4617720"/>
            <a:ext cx="73152" cy="1280160"/>
          </a:xfrm>
          <a:prstGeom prst="rect">
            <a:avLst/>
          </a:prstGeom>
          <a:solidFill>
            <a:srgbClr val="52239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89204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86600" y="48188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Design-for-manufacture pass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7086600" y="518464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print time, standardize hardware to a single bolt kit, injection-moldable later if scaled.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FORMAT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Electrical and Electronics Engineers. (2016). IEEE 1012-2016: Standard for system, software, and hardware verification and validation. https://standards.ieee.org/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Electrical and Electronics Engineers. (2019). IEEE 2413-2019: Standard for an architectural framework for the Internet of Things (IoT). https://standards.ieee.org/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Electrical and Electronics Engineers. (2024). IEEE 7009-2024: Standard for fail-safe design of autonomous and semi-autonomous systems. https://standards.ieee.org/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Organization for Standardization. (2011). ISO/IEC 25010:2011 — Systems and software engineering — Systems and software quality requirements and evaluation (SQuaRE) — System and software quality models. https://www.iso.org/standard/78175.html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A1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Organization for Standardization. (2022). ISO/IEC 27001:2022 — Information security, cybersecurity and privacy protection — Information security management systems — Requirements. https://www.iso.org/standard/82875.html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citations (datasets, libraries, specific component datasheets) are listed in the appendix.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D9D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  |  Capstone Final 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material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48640" y="4480560"/>
            <a:ext cx="2743200" cy="0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timeline  •  BOM &amp; costs  •  Additional test data  •  Simulations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 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 — Complete Timeline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617720"/>
          </a:xfrm>
          <a:prstGeom prst="rect">
            <a:avLst/>
          </a:prstGeom>
          <a:solidFill>
            <a:srgbClr val="E9DFF5"/>
          </a:solidFill>
          <a:ln w="9525">
            <a:solidFill>
              <a:srgbClr val="D9D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49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FULL GITHUB GANTT / ISSUE BOARD SCREENSHOT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issue IDs, assignees, and date ranges from project board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FINAL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B — Bill of Materials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2743200"/>
                <a:gridCol w="731520"/>
                <a:gridCol w="1188720"/>
                <a:gridCol w="26517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/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239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 (8GB)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vendor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BME680 sensor breakout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vendor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Capacitive soil moisture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vendor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vendor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peristaltic pump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vendor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Full-spectrum LED strip (24V)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vendor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24V PSU + buck converters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vendor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MOSFET board + passives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vendor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 filament (kg)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vendor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Acrylic columns + fabric + Mylar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vendor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Fasteners, tubing, Velcro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vendor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223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t">
                    <a:lnL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placeholders — overwrite with your actual BOM CSV values.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&amp; RAW TELEMETRY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C — Additional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71455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4617720"/>
          </a:xfrm>
          <a:prstGeom prst="rect">
            <a:avLst/>
          </a:prstGeom>
          <a:solidFill>
            <a:srgbClr val="E9DFF5"/>
          </a:solidFill>
          <a:ln w="9525">
            <a:solidFill>
              <a:srgbClr val="D9D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49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RAW SENSOR LOG SCREENSHOT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 from continuous sensor run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4617720"/>
          </a:xfrm>
          <a:prstGeom prst="rect">
            <a:avLst/>
          </a:prstGeom>
          <a:solidFill>
            <a:srgbClr val="E9DFF5"/>
          </a:solidFill>
          <a:ln w="9525">
            <a:solidFill>
              <a:srgbClr val="D9D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3749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2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SUPABASE READINGS TABLE 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41148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readings ingested into Postgres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Grand Canyon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PhytoPi Final Project Presentation</dc:title>
  <dc:subject>PptxGenJS Presentation</dc:subject>
  <dc:creator>Nolan Tuttle &amp; Daniel Grijalva</dc:creator>
  <cp:lastModifiedBy>Nolan Tuttle &amp; Daniel Grijalva</cp:lastModifiedBy>
  <cp:revision>1</cp:revision>
  <dcterms:created xsi:type="dcterms:W3CDTF">2026-04-20T07:07:01Z</dcterms:created>
  <dcterms:modified xsi:type="dcterms:W3CDTF">2026-04-20T07:07:01Z</dcterms:modified>
</cp:coreProperties>
</file>